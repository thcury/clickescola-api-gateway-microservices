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geral: cliente entra pelo gateway Nginx, que roteia para os dois microsserviços; cada um persiste no seu keyspace Cassandra; observabilidade via Promtail/Loki/Grafana.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serviço grava no tracing_ks os carimbos gateway_received (t0) e service_received (t1). O tempo gateway→serviço é t1−t0. A FastAPI (Alunos) responde mais rápido que o NestJS (Cursos) neste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Criamos um modo de acessar os serviços direto, sem Nginx, só para medir. O gateway custa 1 hop a mais de tempo, mas entrega centralização. Detalhamos no slide de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nunca vê um erro cru. O gateway traduz falhas em JSON amigável: rate limit vira 429, serviço fora do ar vira 503. docker compose stop service-cursos faz /api/cursos retornar 503 enquanto /api/alunos segue 200.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gateway centraliza entrada, segurança, rate limit e logs; os microsserviços trazem independência. Tudo tem custo: ponto único de falha, latência extra, mais infra e complexidade operacional.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Stack: Nginx, FastAPI, NestJS, Cassandra, Loki, Grafana, React,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8412480" cy="1028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18230850" y="0"/>
            <a:ext cx="57150" cy="1028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2682240"/>
            <a:ext cx="123634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CLICKESCOLA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38250" y="3288030"/>
            <a:ext cx="11576685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spc="-22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 e Microsserviços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1238250" y="5631180"/>
            <a:ext cx="1236345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Plataforma Acadêmica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238250" y="7063740"/>
            <a:ext cx="1257300" cy="541020"/>
          </a:xfrm>
          <a:prstGeom prst="roundRect">
            <a:avLst>
              <a:gd name="adj" fmla="val 10563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55420" y="7185660"/>
            <a:ext cx="8991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Albert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67000" y="7063740"/>
            <a:ext cx="1943100" cy="541020"/>
          </a:xfrm>
          <a:prstGeom prst="roundRect">
            <a:avLst>
              <a:gd name="adj" fmla="val 10563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4170" y="7185660"/>
            <a:ext cx="15849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Pedro Porto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81550" y="7063740"/>
            <a:ext cx="1943100" cy="541020"/>
          </a:xfrm>
          <a:prstGeom prst="roundRect">
            <a:avLst>
              <a:gd name="adj" fmla="val 10563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8720" y="7185660"/>
            <a:ext cx="15849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Thiago Cury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96100" y="7063740"/>
            <a:ext cx="3589020" cy="541020"/>
          </a:xfrm>
          <a:prstGeom prst="roundRect">
            <a:avLst>
              <a:gd name="adj" fmla="val 10563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3270" y="7185660"/>
            <a:ext cx="326235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Thiago Henrique Lacerda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56298"/>
            <a:ext cx="381000" cy="47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742950"/>
            <a:ext cx="3467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074420"/>
            <a:ext cx="17811750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Arquitetura do projeto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2000250"/>
            <a:ext cx="16192500" cy="7242810"/>
          </a:xfrm>
          <a:prstGeom prst="roundRect">
            <a:avLst>
              <a:gd name="adj" fmla="val 1578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80111" r="-80111" t="0" b="0"/>
          <a:stretch/>
        </p:blipFill>
        <p:spPr>
          <a:xfrm>
            <a:off x="1055370" y="2007870"/>
            <a:ext cx="16177260" cy="72275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07770" y="2141220"/>
            <a:ext cx="5406390" cy="369570"/>
          </a:xfrm>
          <a:prstGeom prst="roundRect">
            <a:avLst>
              <a:gd name="adj" fmla="val 15464"/>
            </a:avLst>
          </a:prstGeom>
          <a:solidFill>
            <a:srgbClr val="FFFFFF">
              <a:alpha val="88000"/>
            </a:srgbClr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39215" y="2215515"/>
            <a:ext cx="530569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arraste para mover · role para zoom · clique-duplo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4567535" y="868299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28575" dist="9525" dir="54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4594205" y="8700135"/>
            <a:ext cx="34671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5043785" y="8682990"/>
            <a:ext cx="67818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28575" dist="9525" dir="5400000">
              <a:srgbClr val="0F172A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165706" y="8764905"/>
            <a:ext cx="5105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15798165" y="868299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  <a:effectLst>
            <a:outerShdw sx="100000" sy="100000" kx="0" ky="0" algn="bl" rotWithShape="0" blurRad="28575" dist="9525" dir="5400000">
              <a:srgbClr val="0F172A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5824835" y="8700135"/>
            <a:ext cx="34671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6274415" y="8682990"/>
            <a:ext cx="805815" cy="400050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7620">
            <a:solidFill>
              <a:srgbClr val="2563EB"/>
            </a:solidFill>
            <a:prstDash val="solid"/>
          </a:ln>
          <a:effectLst>
            <a:outerShdw sx="100000" sy="100000" kx="0" ky="0" algn="bl" rotWithShape="0" blurRad="28575" dist="9525" dir="5400000">
              <a:srgbClr val="2563EB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6396335" y="8690610"/>
            <a:ext cx="561975" cy="42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reset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047750" y="9433560"/>
            <a:ext cx="1312136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 → Gateway (Nginx) → microsserviços → Cassandra; observabilidade via Loki / Grafana.</a:t>
            </a:r>
            <a:endParaRPr lang="en-US" sz="1725" dirty="0"/>
          </a:p>
        </p:txBody>
      </p:sp>
      <p:sp>
        <p:nvSpPr>
          <p:cNvPr id="18" name="Text 15"/>
          <p:cNvSpPr/>
          <p:nvPr/>
        </p:nvSpPr>
        <p:spPr>
          <a:xfrm>
            <a:off x="16977360" y="9433560"/>
            <a:ext cx="3390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56298"/>
            <a:ext cx="381000" cy="47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742950"/>
            <a:ext cx="3467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074420"/>
            <a:ext cx="17811750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Observabilidade: logs e métricas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047750" y="2038350"/>
            <a:ext cx="12344400" cy="2362200"/>
          </a:xfrm>
          <a:prstGeom prst="roundRect">
            <a:avLst>
              <a:gd name="adj" fmla="val 4839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5370" y="2045970"/>
            <a:ext cx="12329160" cy="2346960"/>
          </a:xfrm>
          <a:prstGeom prst="roundRect">
            <a:avLst>
              <a:gd name="adj" fmla="val 4870"/>
            </a:avLst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0184" r="-10184" t="0" b="0"/>
          <a:stretch/>
        </p:blipFill>
        <p:spPr>
          <a:xfrm>
            <a:off x="1055370" y="2045970"/>
            <a:ext cx="12329160" cy="2346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11250" y="1875473"/>
            <a:ext cx="289772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Requisições barradas por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811250" y="2224088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rate limit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811250" y="2618422"/>
            <a:ext cx="2753633" cy="729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tempo médio até cada serviço.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3811250" y="3471863"/>
            <a:ext cx="353187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FastAPI (Alunos) responde mais rápido que o NestJS (Cursos)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 cenário.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047750" y="4648200"/>
            <a:ext cx="12344400" cy="4621530"/>
          </a:xfrm>
          <a:prstGeom prst="roundRect">
            <a:avLst>
              <a:gd name="adj" fmla="val 2473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5370" y="4655820"/>
            <a:ext cx="12329160" cy="4606290"/>
          </a:xfrm>
          <a:prstGeom prst="roundRect">
            <a:avLst>
              <a:gd name="adj" fmla="val 2481"/>
            </a:avLst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4375" r="-14375" t="0" b="0"/>
          <a:stretch/>
        </p:blipFill>
        <p:spPr>
          <a:xfrm>
            <a:off x="1055370" y="4655820"/>
            <a:ext cx="12329160" cy="46062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811250" y="5429250"/>
            <a:ext cx="249114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serviço grava no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3811250" y="5777865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tracing_ks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3811250" y="6172200"/>
            <a:ext cx="142267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carimbos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3811250" y="6520815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gateway_received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3811250" y="6915150"/>
            <a:ext cx="59781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(t₀) e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3811250" y="7263765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service_received</a:t>
            </a:r>
            <a:endParaRPr lang="en-US" sz="1950" dirty="0"/>
          </a:p>
        </p:txBody>
      </p:sp>
      <p:sp>
        <p:nvSpPr>
          <p:cNvPr id="21" name="Text 17"/>
          <p:cNvSpPr/>
          <p:nvPr/>
        </p:nvSpPr>
        <p:spPr>
          <a:xfrm>
            <a:off x="13811250" y="7658100"/>
            <a:ext cx="47077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(t₁).</a:t>
            </a:r>
            <a:endParaRPr lang="en-US" sz="1950" dirty="0"/>
          </a:p>
        </p:txBody>
      </p:sp>
      <p:sp>
        <p:nvSpPr>
          <p:cNvPr id="22" name="Text 18"/>
          <p:cNvSpPr/>
          <p:nvPr/>
        </p:nvSpPr>
        <p:spPr>
          <a:xfrm>
            <a:off x="13811250" y="8140065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Gateway→serviço =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t₁ − t₀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-571500" y="9441180"/>
            <a:ext cx="178117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56298"/>
            <a:ext cx="381000" cy="47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742950"/>
            <a:ext cx="3467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074420"/>
            <a:ext cx="17811750" cy="754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7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Comparação: via Gateway × Direto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047750" y="2038350"/>
            <a:ext cx="13578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 Alunos · FastAPI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047750" y="2415540"/>
            <a:ext cx="12344400" cy="33375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5370" y="2423160"/>
            <a:ext cx="12329160" cy="3322320"/>
          </a:xfrm>
          <a:prstGeom prst="roundRect">
            <a:avLst>
              <a:gd name="adj" fmla="val 3440"/>
            </a:avLst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3654" b="-13654"/>
          <a:stretch/>
        </p:blipFill>
        <p:spPr>
          <a:xfrm>
            <a:off x="1055370" y="2423160"/>
            <a:ext cx="12329160" cy="3322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750" y="6000750"/>
            <a:ext cx="13578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 Cursos · NestJS</a:t>
            </a:r>
            <a:endParaRPr lang="en-US" sz="1725" dirty="0"/>
          </a:p>
        </p:txBody>
      </p:sp>
      <p:sp>
        <p:nvSpPr>
          <p:cNvPr id="10" name="Shape 7"/>
          <p:cNvSpPr/>
          <p:nvPr/>
        </p:nvSpPr>
        <p:spPr>
          <a:xfrm>
            <a:off x="1047750" y="6377940"/>
            <a:ext cx="12344400" cy="3337560"/>
          </a:xfrm>
          <a:prstGeom prst="roundRect">
            <a:avLst>
              <a:gd name="adj" fmla="val 342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5370" y="6385560"/>
            <a:ext cx="12329160" cy="3322320"/>
          </a:xfrm>
          <a:prstGeom prst="roundRect">
            <a:avLst>
              <a:gd name="adj" fmla="val 3440"/>
            </a:avLst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5724" b="-15724"/>
          <a:stretch/>
        </p:blipFill>
        <p:spPr>
          <a:xfrm>
            <a:off x="1055370" y="6385560"/>
            <a:ext cx="12329160" cy="3322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11250" y="4075747"/>
            <a:ext cx="3374285" cy="729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Criamos um modo de acessar os serviços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3811250" y="4795838"/>
            <a:ext cx="3771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direto (sem Nginx)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13811250" y="5190173"/>
            <a:ext cx="164663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para medir.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3811250" y="5691188"/>
            <a:ext cx="3531870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gateway custa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 hop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tempo, mas entrega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centralização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3811250" y="6958013"/>
            <a:ext cx="35318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Detalhamos no slide de trade-offs.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80098"/>
            <a:ext cx="381000" cy="47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666750"/>
            <a:ext cx="3467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979170"/>
            <a:ext cx="1810512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7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Resiliência: o Gateway trata as falhas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87830"/>
            <a:ext cx="1810512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cliente nunca vê um erro cru — o gateway traduz falhas em respostas </a:t>
            </a:r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 </a:t>
            </a:r>
            <a:pPr algn="l" indent="0" marL="0">
              <a:buNone/>
            </a:pPr>
            <a:r>
              <a:rPr lang="en-US" sz="187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amigáveis.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14400" y="2209800"/>
            <a:ext cx="8096250" cy="3472815"/>
          </a:xfrm>
          <a:prstGeom prst="roundRect">
            <a:avLst>
              <a:gd name="adj" fmla="val 3291"/>
            </a:avLst>
          </a:prstGeom>
          <a:ln w="76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9670" y="2426970"/>
            <a:ext cx="1272540" cy="388620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2484120"/>
            <a:ext cx="10820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4530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 429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575560" y="2453640"/>
            <a:ext cx="12281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69670" y="2910840"/>
            <a:ext cx="7813282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limit_req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10 req/s ·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limit_req_status 429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Resposta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{"error":"too_many_requests"}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header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Retry-After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Protege os serviços de sobrecarga sem derrubá-los.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14400" y="5873115"/>
            <a:ext cx="8096250" cy="3472815"/>
          </a:xfrm>
          <a:prstGeom prst="roundRect">
            <a:avLst>
              <a:gd name="adj" fmla="val 3291"/>
            </a:avLst>
          </a:prstGeom>
          <a:ln w="762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670" y="6090285"/>
            <a:ext cx="1272540" cy="388620"/>
          </a:xfrm>
          <a:prstGeom prst="roundRect">
            <a:avLst>
              <a:gd name="adj" fmla="val 14706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03020" y="6147435"/>
            <a:ext cx="10820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 503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575560" y="6116955"/>
            <a:ext cx="26328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Serviço indisponível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69670" y="6574155"/>
            <a:ext cx="7813282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proxy_intercept_errors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error_page 502/503/504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Resposta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{"error":"service_unavailable"}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Retry-After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Se um serviço cai, o gateway responde no lugar dele e as outras rotas seguem no ar (isolamento).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77350" y="2209800"/>
            <a:ext cx="8096250" cy="1582103"/>
          </a:xfrm>
          <a:prstGeom prst="roundRect">
            <a:avLst>
              <a:gd name="adj" fmla="val 7225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505950" y="2419350"/>
            <a:ext cx="7881937" cy="120110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E2E8F0"/>
                </a:solidFill>
                <a:highlight>
                  <a:srgbClr val="0F172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limit_req_zone $binary_remote_addr zone=api_limit:10m rate=10r/s;</a:t>
            </a:r>
            <a:endParaRPr lang="en-US" sz="138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E2E8F0"/>
                </a:solidFill>
                <a:highlight>
                  <a:srgbClr val="0F172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limit_req_status 429;</a:t>
            </a:r>
            <a:endParaRPr lang="en-US" sz="138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E2E8F0"/>
                </a:solidFill>
                <a:highlight>
                  <a:srgbClr val="0F172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error_page 429        = @too_many_requests;    </a:t>
            </a:r>
            <a:endParaRPr lang="en-US" sz="1388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rate limit </a:t>
            </a:r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E2E8F0"/>
                </a:solidFill>
                <a:highlight>
                  <a:srgbClr val="0F172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error_page 502 503 504 = @service_unavailable; </a:t>
            </a:r>
            <a:pPr algn="l" indent="0" marL="0">
              <a:lnSpc>
                <a:spcPct val="165000"/>
              </a:lnSpc>
              <a:buNone/>
            </a:pPr>
            <a:r>
              <a:rPr lang="en-US" sz="1388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fora do ar</a:t>
            </a:r>
            <a:endParaRPr lang="en-US" sz="1388" dirty="0"/>
          </a:p>
        </p:txBody>
      </p:sp>
      <p:sp>
        <p:nvSpPr>
          <p:cNvPr id="18" name="Shape 16"/>
          <p:cNvSpPr/>
          <p:nvPr/>
        </p:nvSpPr>
        <p:spPr>
          <a:xfrm>
            <a:off x="9277350" y="3982403"/>
            <a:ext cx="8096250" cy="4932998"/>
          </a:xfrm>
          <a:prstGeom prst="roundRect">
            <a:avLst>
              <a:gd name="adj" fmla="val 2317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7350" y="9105900"/>
            <a:ext cx="890587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compose stop service-cursos </a:t>
            </a:r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/api/cursos 503 · /api/alunos 200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-731520" y="9479280"/>
            <a:ext cx="18105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80098"/>
            <a:ext cx="381000" cy="47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466850" y="666750"/>
            <a:ext cx="3467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75" kern="0" dirty="0">
                <a:solidFill>
                  <a:srgbClr val="2563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14400" y="979170"/>
            <a:ext cx="1810512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75" kern="0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Trade-offs da arquitetura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14400" y="1687830"/>
            <a:ext cx="181051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gateway centraliza (entrada única, segurança, rate limit, logs); os microsserviços trazem independência. Tudo tem custo.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56460"/>
            <a:ext cx="16459200" cy="7227570"/>
          </a:xfrm>
          <a:prstGeom prst="roundRect">
            <a:avLst>
              <a:gd name="adj" fmla="val 1581"/>
            </a:avLst>
          </a:prstGeom>
          <a:ln w="762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2020" y="2164080"/>
            <a:ext cx="16443960" cy="5219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131570" y="2297430"/>
            <a:ext cx="2460233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27038" y="2297430"/>
            <a:ext cx="6609812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Benefício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51225" y="2297430"/>
            <a:ext cx="6609935" cy="29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/ Trade-off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2020" y="2686050"/>
            <a:ext cx="16443960" cy="9566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22020" y="2686050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131570" y="2809875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Entrada única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27038" y="2809875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Centraliza roteamento, rate limit, logs, segurança, CORS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51225" y="2809875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Ponto único de falha (exige alta disponibilidade)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2020" y="3642717"/>
            <a:ext cx="16443960" cy="95666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2020" y="3642717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131570" y="3766542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27038" y="3766542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51225" y="3766542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 hop: overhead de tempo medido vs. acesso direto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2020" y="4599384"/>
            <a:ext cx="16443960" cy="9566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2020" y="4599384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131570" y="4723209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27038" y="4723209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Esconde a topologia interna; serviços não expostos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51225" y="4723209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configuração concentrada no gateway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2020" y="5556052"/>
            <a:ext cx="16443960" cy="95666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22020" y="5556052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1131570" y="5679877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Observabilidade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27038" y="5679877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Tracing centralizado;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X-Request-ID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correlaciona ponta a ponta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751225" y="5679877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 de infra (Promtail + Loki + Grafana)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22020" y="6512719"/>
            <a:ext cx="16443960" cy="9566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22020" y="6512719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1131570" y="6636544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Independência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27038" y="6636544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Times, deploys e linguagens independentes (FastAPI + NestJS)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751225" y="6636544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 complexidade operacional (containers, rede, orquestração)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22020" y="7469386"/>
            <a:ext cx="16443960" cy="95666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922020" y="7469386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131570" y="7593211"/>
            <a:ext cx="2460233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Resiliência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927038" y="7593211"/>
            <a:ext cx="6609812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 trata falhas (429/503) e isola serviços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751225" y="7593211"/>
            <a:ext cx="6609935" cy="747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Exige timeouts / retries / circuit-breaker bem ajustados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22020" y="8426053"/>
            <a:ext cx="16443960" cy="9503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922020" y="8426053"/>
            <a:ext cx="1644396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131570" y="8549878"/>
            <a:ext cx="2460233" cy="740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927038" y="8549878"/>
            <a:ext cx="6609812" cy="740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serviço dono do seu keyspace (query-first)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751225" y="8549878"/>
            <a:ext cx="6609935" cy="740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joins entre serviços; consistência eventual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-731520" y="9517380"/>
            <a:ext cx="181051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558540"/>
            <a:ext cx="173926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60A5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CLICKESCOLA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4126230"/>
            <a:ext cx="17392650" cy="1623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600" b="1" spc="-225" kern="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Obrigado.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1238250" y="6187440"/>
            <a:ext cx="112014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5420" y="6309360"/>
            <a:ext cx="762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Nginx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1740" y="6187440"/>
            <a:ext cx="139446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8910" y="6309360"/>
            <a:ext cx="10363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FastAPI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19550" y="6187440"/>
            <a:ext cx="125730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6720" y="6309360"/>
            <a:ext cx="8991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NestJS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10200" y="6187440"/>
            <a:ext cx="166878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7370" y="6309360"/>
            <a:ext cx="131064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Cassandra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12330" y="6187440"/>
            <a:ext cx="98298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500" y="6309360"/>
            <a:ext cx="62484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Loki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28660" y="6187440"/>
            <a:ext cx="139446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5830" y="6309360"/>
            <a:ext cx="10363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Grafana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56470" y="6187440"/>
            <a:ext cx="112014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73640" y="6309360"/>
            <a:ext cx="762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09960" y="6187440"/>
            <a:ext cx="2354580" cy="541020"/>
          </a:xfrm>
          <a:prstGeom prst="roundRect">
            <a:avLst>
              <a:gd name="adj" fmla="val 10563"/>
            </a:avLst>
          </a:prstGeom>
          <a:solidFill>
            <a:srgbClr val="1E293B"/>
          </a:solidFill>
          <a:ln w="762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27130" y="6309360"/>
            <a:ext cx="199644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Compose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2026-06-21T16:10:14Z</dcterms:created>
  <dcterms:modified xsi:type="dcterms:W3CDTF">2026-06-21T16:10:14Z</dcterms:modified>
</cp:coreProperties>
</file>